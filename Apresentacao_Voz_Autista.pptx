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Callout 3"/>
          <p:cNvSpPr/>
          <p:nvPr/>
        </p:nvSpPr>
        <p:spPr>
          <a:xfrm>
            <a:off x="5303520" y="1645920"/>
            <a:ext cx="1645920" cy="1371600"/>
          </a:xfrm>
          <a:prstGeom prst="cloudCallou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Projeto de Prototipacao de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Voz Autista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2A5F5"/>
                </a:solidFill>
                <a:latin typeface="Segoe UI"/>
              </a:defRPr>
            </a:pPr>
            <a:r>
              <a:t>Dispositivo de Comunicacao Assistiva para Pessoas com Autismo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937760"/>
            <a:ext cx="2103120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Edicao Maker  |  Plataforma Arduino Uno R3  |  Abril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Versão 1.0 — Documento Técnico Completo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463040"/>
            <a:ext cx="502920" cy="502920"/>
          </a:xfrm>
          <a:prstGeom prst="ellipse">
            <a:avLst/>
          </a:prstGeom>
          <a:solidFill>
            <a:srgbClr val="256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Visão Geral do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556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Objetivo, publico-alvo e funcionalidades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286000"/>
            <a:ext cx="502920" cy="502920"/>
          </a:xfrm>
          <a:prstGeom prst="ellipse">
            <a:avLst/>
          </a:prstGeom>
          <a:solidFill>
            <a:srgbClr val="256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Arquitetura do Sistema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5786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Diagrama de blocos e componentes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108960"/>
            <a:ext cx="502920" cy="502920"/>
          </a:xfrm>
          <a:prstGeom prst="ellipse">
            <a:avLst/>
          </a:prstGeom>
          <a:solidFill>
            <a:srgbClr val="256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Circuito Elétrico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015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Esquema de ligacao e lista de materiais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931920"/>
            <a:ext cx="502920" cy="502920"/>
          </a:xfrm>
          <a:prstGeom prst="ellipse">
            <a:avLst/>
          </a:prstGeom>
          <a:solidFill>
            <a:srgbClr val="256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Simulação Wokwi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24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Demonstração do circuito funcionando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4754880"/>
            <a:ext cx="502920" cy="502920"/>
          </a:xfrm>
          <a:prstGeom prst="ellipse">
            <a:avLst/>
          </a:prstGeom>
          <a:solidFill>
            <a:srgbClr val="256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Case 3D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0474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Design para impressão 3D em OpenSCAD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5577840"/>
            <a:ext cx="502920" cy="502920"/>
          </a:xfrm>
          <a:prstGeom prst="ellipse">
            <a:avLst/>
          </a:prstGeom>
          <a:solidFill>
            <a:srgbClr val="256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577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Correções e Melhorias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8704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Problemas encontrados e solucoes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Visão Geral do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18872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Segoe UI"/>
              </a:defRPr>
            </a:pPr>
            <a:r>
              <a:t>Objetivo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O Voz Autista é um dispositivo de comunicação assistiva projetado para pessoas com Transtorno do</a:t>
            </a:r>
            <a:br/>
            <a:r>
              <a:t>Espectro Autista (TEA) que apresentam dificuldades na comunicação verbal. O usuário navega por</a:t>
            </a:r>
            <a:br/>
            <a:r>
              <a:t>categorias de palavras e frases pré-definidas e reproduz o áudio correspondente através de um alto-falante.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3383280" cy="256032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A5F5"/>
                </a:solidFill>
                <a:latin typeface="Segoe UI"/>
              </a:defRPr>
            </a:pPr>
            <a:r>
              <a:t>Público-Alvo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40"/>
            <a:ext cx="1371600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Crianças e adultos com TEA com</a:t>
            </a:r>
            <a:br/>
            <a:r>
              <a:t>  dificuldades de comunicação verbal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Cuidadores, terapeutas e familiares</a:t>
            </a:r>
            <a:br/>
            <a:r>
              <a:t>  que buscam ferramentas de CAA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Profissionais de saúde e</a:t>
            </a:r>
            <a:br/>
            <a:r>
              <a:t>  educação especial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834640"/>
            <a:ext cx="3566160" cy="256032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Funcionalidades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3291840"/>
            <a:ext cx="1371600" cy="3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4290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Navegação por 3 categorias:</a:t>
            </a:r>
            <a:br/>
            <a:r>
              <a:t>  Necessidades, Sentimentos, Ações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5 palavras por categoria com</a:t>
            </a:r>
            <a:br/>
            <a:r>
              <a:t>  reprodução de áudio MP3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Display LCD 16x2 com feedback</a:t>
            </a:r>
            <a:br/>
            <a:r>
              <a:t>  visual em tempo real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5 botões coloridos com</a:t>
            </a:r>
            <a:br/>
            <a:r>
              <a:t>  navegação circular intuitiva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834640"/>
            <a:ext cx="3383280" cy="256032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971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Segoe UI"/>
              </a:defRPr>
            </a:pPr>
            <a:r>
              <a:t>Diferenciais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291840"/>
            <a:ext cx="1371600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4290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Baixo custo (~R$80 em</a:t>
            </a:r>
            <a:br/>
            <a:r>
              <a:t>  componentes eletronicos)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Open-source e replicável</a:t>
            </a:r>
            <a:br/>
            <a:r>
              <a:t>  por qualquer maker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Case imprimível em 3D</a:t>
            </a:r>
            <a:br/>
            <a:r>
              <a:t>  com design paramétrico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Simulação online via Wokwi</a:t>
            </a:r>
            <a:br/>
            <a:r>
              <a:t>  para testes sem 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Plataforma: Arduino Uno R3  |  Áudio: DFPlayer Mini + Alto-falante 8Ω 0.5W  |  Display: LCD 16x2 I2C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Arquitetura do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2286000"/>
            <a:ext cx="3200400" cy="20116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ARDUINO UNO R3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  <a:latin typeface="Segoe UI"/>
              </a:defRPr>
            </a:pPr>
            <a:r>
              <a:t>ATmega328P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1089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Pinos D2-D6: Botões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Pinos D10-D11: DFPlayer (Serial)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Pinos A4-A5: LCD (I2C)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Pino D9: Buzzer (simulação)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256032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LCD 16x2 I2C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E6C9"/>
                </a:solidFill>
                <a:latin typeface="Segoe UI"/>
              </a:defRPr>
            </a:pPr>
            <a:r>
              <a:t>Categoria + Palavra selecionada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468880"/>
            <a:ext cx="2560320" cy="9144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DFPlayer 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CCBC"/>
                </a:solidFill>
                <a:latin typeface="Segoe UI"/>
              </a:defRPr>
            </a:pPr>
            <a:r>
              <a:t>Módulo MP3 + MicroSD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3657600"/>
            <a:ext cx="1645920" cy="73152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3703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Alto-falante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023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8Ω  0.5W  40mm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286000"/>
            <a:ext cx="2743200" cy="228600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 Botões de Navegação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3935"/>
                </a:solidFill>
                <a:latin typeface="Segoe UI"/>
              </a:defRPr>
            </a:pPr>
            <a:r>
              <a:t>● Vermelho — Categoria 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0906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B300"/>
                </a:solidFill>
                <a:latin typeface="Segoe UI"/>
              </a:defRPr>
            </a:pPr>
            <a:r>
              <a:t>● Amarelo — Categoria 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4381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3A047"/>
                </a:solidFill>
                <a:latin typeface="Segoe UI"/>
              </a:defRPr>
            </a:pPr>
            <a:r>
              <a:t>● Verde — Palavra 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7856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88E5"/>
                </a:solidFill>
                <a:latin typeface="Segoe UI"/>
              </a:defRPr>
            </a:pPr>
            <a:r>
              <a:t>● Azul — Palavra 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3308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  <a:latin typeface="Segoe UI"/>
              </a:defRPr>
            </a:pPr>
            <a:r>
              <a:t>● Preto — FALAR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926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2A5F5"/>
                </a:solidFill>
                <a:latin typeface="Segoe UI"/>
              </a:defRPr>
            </a:pPr>
            <a:r>
              <a:t>▶▶▶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1965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CAF50"/>
                </a:solidFill>
                <a:latin typeface="Segoe UI"/>
              </a:defRPr>
            </a:pPr>
            <a:r>
              <a:t>▲ I2C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9800"/>
                </a:solidFill>
                <a:latin typeface="Segoe UI"/>
              </a:defRPr>
            </a:pPr>
            <a:r>
              <a:t>▶ Serial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▼ Audio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074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A5F5"/>
                </a:solidFill>
                <a:latin typeface="Segoe UI"/>
              </a:defRPr>
            </a:pPr>
            <a:r>
              <a:t>Fluxo de Operação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440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1. Usuário pressiona botão →  2. Arduino processa entrada (debounce 200ms) →  3. Atualiza LCD com categoria/palavra →  4. Ao pressionar FALAR, DFPlayer reproduz MP3 correspondente pelo alto-falante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Esquema Elétrico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Segoe UI"/>
              </a:defRPr>
            </a:pPr>
            <a:r>
              <a:t>Diagrama de Ligação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737360"/>
            <a:ext cx="1371600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42A5F5"/>
                </a:solidFill>
                <a:latin typeface="Consolas"/>
              </a:defRPr>
            </a:pPr>
            <a:r>
              <a:t>ARDUINO UNO          COMPONENTE</a:t>
            </a:r>
          </a:p>
          <a:p>
            <a:pPr>
              <a:spcAft>
                <a:spcPts val="100"/>
              </a:spcAft>
              <a:defRPr sz="1100">
                <a:solidFill>
                  <a:srgbClr val="42A5F5"/>
                </a:solidFill>
                <a:latin typeface="Consolas"/>
              </a:defRPr>
            </a:pPr>
            <a:r>
              <a:t>────────────────────────────────────</a:t>
            </a:r>
          </a:p>
          <a:p>
            <a:pPr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D2  ─────  Botao Vermelho ── GND  (Cat ▶)</a:t>
            </a:r>
          </a:p>
          <a:p>
            <a:pPr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D3  ─────  Botao Amarelo  ── GND  (Cat ◀)</a:t>
            </a:r>
          </a:p>
          <a:p>
            <a:pPr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D4  ─────  Botao Verde    ── GND  (Pal ▶)</a:t>
            </a:r>
          </a:p>
          <a:p>
            <a:pPr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D5  ─────  Botao Azul     ── GND  (Pal ◀)</a:t>
            </a:r>
          </a:p>
          <a:p>
            <a:pPr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D6  ─────  Botao Preto    ── GND  (FALAR)</a:t>
            </a:r>
          </a:p>
          <a:p>
            <a:pPr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D10 ─────  DFPlayer TX</a:t>
            </a:r>
          </a:p>
          <a:p>
            <a:pPr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D11 ─[1kΩ]─ DFPlayer RX</a:t>
            </a:r>
          </a:p>
          <a:p>
            <a:pPr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A4 (SDA) ── LCD SDA</a:t>
            </a:r>
          </a:p>
          <a:p>
            <a:pPr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A5 (SCL) ── LCD SCL</a:t>
            </a:r>
          </a:p>
          <a:p>
            <a:pPr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5V  ─────  LCD VCC, DFPlayer VCC</a:t>
            </a:r>
          </a:p>
          <a:p>
            <a:pPr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GND ─────  LCD GND, DFPlayer GND</a:t>
            </a:r>
          </a:p>
          <a:p>
            <a:pPr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DFPlayer SPK+ ── Alto-falante (+)</a:t>
            </a:r>
          </a:p>
          <a:p>
            <a:pPr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DFPlayer SPK- ── Alto-falante (-)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Segoe UI"/>
              </a:defRPr>
            </a:pPr>
            <a:r>
              <a:t>Lista de Materiais (BOM)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737360"/>
            <a:ext cx="1371600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1x  Arduino Uno R3 (ATmega328P, 5V)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1x  LCD 16x2 com módulo I2C (0x27)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1x  DFPlayer Mini (MP3 + MicroSD)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1x  Cartão microSD (FAT32, até 32GB)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1x  Alto-falante 8ohm, 0.5W, 40mm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5x  Botão push momentaneo 12mm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     (vermelho, amarelo, verde, azul, preto)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1x  Resistor 1kΩ (1/4W, 5%)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~20x Cabos jumper macho-macho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1x  Protoboard 830 pontos (opcional)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Economia: resistores pull-down de 10kΩ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removidos! O codigo usa INPUT_PULLUP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interno do Arduino (~47kΩ).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Simulação no Wokwi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00" cy="118872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A5F5"/>
                </a:solidFill>
                <a:latin typeface="Segoe UI"/>
              </a:defRPr>
            </a:pPr>
            <a:r>
              <a:t>O que é o Wokwi?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Simulador online gratuito de circuitos Arduino.</a:t>
            </a:r>
            <a:br/>
            <a:r>
              <a:t>Permite testar o código e o circuito sem hardware físico.</a:t>
            </a:r>
            <a:br/>
            <a:r>
              <a:t>Acesso: wokwi.com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371600"/>
            <a:ext cx="4846320" cy="118872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417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Segoe UI"/>
              </a:defRPr>
            </a:pPr>
            <a:r>
              <a:t>Adaptações para Simulação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916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DFPlayer Mini substituído por Buzzer (pino D9).</a:t>
            </a:r>
            <a:br/>
            <a:r>
              <a:t>Cada palavra tem um tom diferente para feedback.</a:t>
            </a:r>
            <a:br/>
            <a:r>
              <a:t>Resistor 1kΩ mantido como referência visual.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Aspecto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Simulação (Wokwi)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Hardware Real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83280"/>
            <a:ext cx="10698480" cy="384048"/>
          </a:xfrm>
          <a:prstGeom prst="rect">
            <a:avLst/>
          </a:prstGeom>
          <a:solidFill>
            <a:srgbClr val="151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29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A5F5"/>
                </a:solidFill>
                <a:latin typeface="Segoe UI"/>
              </a:defRPr>
            </a:pPr>
            <a:r>
              <a:t>Áudio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Buzzer com tons diferentes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DFPlayer Mini + alto-falante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94760"/>
            <a:ext cx="10698480" cy="384048"/>
          </a:xfrm>
          <a:prstGeom prst="rect">
            <a:avLst/>
          </a:prstGeom>
          <a:solidFill>
            <a:srgbClr val="1A2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A5F5"/>
                </a:solidFill>
                <a:latin typeface="Segoe UI"/>
              </a:defRPr>
            </a:pPr>
            <a:r>
              <a:t>Pinos de áudio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D9 (buzzer)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D10/D11 (SoftwareSerial)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06240"/>
            <a:ext cx="10698480" cy="384048"/>
          </a:xfrm>
          <a:prstGeom prst="rect">
            <a:avLst/>
          </a:prstGeom>
          <a:solidFill>
            <a:srgbClr val="151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51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A5F5"/>
                </a:solidFill>
                <a:latin typeface="Segoe UI"/>
              </a:defRPr>
            </a:pPr>
            <a:r>
              <a:t>Cartão 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Não necessário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microSD FAT32 com MP3s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617720"/>
            <a:ext cx="10698480" cy="384048"/>
          </a:xfrm>
          <a:prstGeom prst="rect">
            <a:avLst/>
          </a:prstGeom>
          <a:solidFill>
            <a:srgbClr val="1A2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663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A5F5"/>
                </a:solidFill>
                <a:latin typeface="Segoe UI"/>
              </a:defRPr>
            </a:pPr>
            <a:r>
              <a:t>Resistor 1kΩ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Visual (referência)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Entre D11 e DFPlayer RX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029200"/>
            <a:ext cx="10698480" cy="384048"/>
          </a:xfrm>
          <a:prstGeom prst="rect">
            <a:avLst/>
          </a:prstGeom>
          <a:solidFill>
            <a:srgbClr val="151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074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A5F5"/>
                </a:solidFill>
                <a:latin typeface="Segoe UI"/>
              </a:defRPr>
            </a:pPr>
            <a:r>
              <a:t>Alimentação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074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Simulada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074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USB ou bateria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577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A5F5"/>
                </a:solidFill>
                <a:latin typeface="Segoe UI"/>
              </a:defRPr>
            </a:pPr>
            <a:r>
              <a:t>Categorias programadas: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943600"/>
            <a:ext cx="3474720" cy="64008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961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Segoe UI"/>
              </a:defRPr>
            </a:pPr>
            <a:r>
              <a:t>Necessidades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6236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Eu quero, Comer, Beber, Banheiro, Dormir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59" y="5943600"/>
            <a:ext cx="3474720" cy="64008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19" y="5961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A5F5"/>
                </a:solidFill>
                <a:latin typeface="Segoe UI"/>
              </a:defRPr>
            </a:pPr>
            <a:r>
              <a:t>Sentimentos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19" y="6236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Feliz, Triste, Bravo, Calmo, Assustado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5943600"/>
            <a:ext cx="3474720" cy="64008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5961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  <a:latin typeface="Segoe UI"/>
              </a:defRPr>
            </a:pPr>
            <a:r>
              <a:t>Ações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6236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Brincar, Ajuda, Sair, Entrar, Ouvir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Case para Impressão 3D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182880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A5F5"/>
                </a:solidFill>
                <a:latin typeface="Segoe UI"/>
              </a:defRPr>
            </a:pPr>
            <a:r>
              <a:t>Design Paramétrico em OpenSCAD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691640"/>
            <a:ext cx="1371600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Modelo totalmente paramétrico — ajuste as dimensões conforme necessário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2 peças: Base + Tampa (encaixe snap-fit com parafusos M3)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Material recomendado: PLA ou PETG (~80g de filamento)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Arquivo .scad editável + visualização 3D interativa em HTML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17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Segoe UI"/>
              </a:defRPr>
            </a:pPr>
            <a:r>
              <a:t>Dimensões do 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691640"/>
            <a:ext cx="1371600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A5F5"/>
                </a:solidFill>
                <a:latin typeface="Segoe UI"/>
              </a:defRPr>
            </a:pPr>
            <a:r>
              <a:t>Externo: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175 x 115 x 47 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A5F5"/>
                </a:solidFill>
                <a:latin typeface="Segoe UI"/>
              </a:defRPr>
            </a:pPr>
            <a:r>
              <a:t>Interno: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48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170 x 110 x 42 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A5F5"/>
                </a:solidFill>
                <a:latin typeface="Segoe UI"/>
              </a:defRPr>
            </a:pPr>
            <a:r>
              <a:t>Parede: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2.5 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88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A5F5"/>
                </a:solidFill>
                <a:latin typeface="Segoe UI"/>
              </a:defRPr>
            </a:pPr>
            <a:r>
              <a:t>Cantos: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Raio 8 mm (arredondados)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474720"/>
            <a:ext cx="3383280" cy="292608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A5F5"/>
                </a:solidFill>
                <a:latin typeface="Segoe UI"/>
              </a:defRPr>
            </a:pPr>
            <a:r>
              <a:t>Base (30mm altura)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931920"/>
            <a:ext cx="1371600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690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Suportes de montagem para Arduino</a:t>
            </a:r>
            <a:br/>
            <a:r>
              <a:t>  Uno (4 pilares M2.5)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Espaço para DFPlayer Mini e fiação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Abertura lateral USB (14x12mm)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Abertura para jack de alimentação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Abertura para cartão SD do DFPlayer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4 pilares de fixação nos cantos (M3)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Borda de encaixe para a tampa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474720"/>
            <a:ext cx="3383280" cy="292608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Tampa (12mm altura)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931920"/>
            <a:ext cx="1371600" cy="3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0690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Janela para LCD 16x2 (72x25mm)</a:t>
            </a:r>
            <a:br/>
            <a:r>
              <a:t>  com rebaixo para PCB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5 furos para botões (14mm diâmetro)</a:t>
            </a:r>
            <a:br/>
            <a:r>
              <a:t>  com anéis indicadores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Grade de ventilação circular (40mm)</a:t>
            </a:r>
            <a:br/>
            <a:r>
              <a:t>  para o alto-falante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Suportes internos (cantoneiras)</a:t>
            </a:r>
            <a:br/>
            <a:r>
              <a:t>  para fixação do LCD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Encaixe snap-fit com a base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474720"/>
            <a:ext cx="3383280" cy="292608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Segoe UI"/>
              </a:defRPr>
            </a:pPr>
            <a:r>
              <a:t>Configurações de Impressão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931920"/>
            <a:ext cx="1371600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0690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Tecnologia: FDM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Layer height: 0.2mm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Infill: 20-25%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Suportes: Não necessários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Cor recomendada: Azul claro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Tempo estimado: ~4-5 horas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Filamento: ~80g PLA/PETG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Correções e Melhorias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Segoe UI"/>
              </a:defRPr>
            </a:pPr>
            <a:r>
              <a:t>Durante a análise do projeto original, foram identificados 3 problemas críticos que impediriam o funcionamento correto.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383280" cy="411480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383280" cy="4572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CRÍTICO: Pull-Up vs Pull-Down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935"/>
                </a:solidFill>
                <a:latin typeface="Segoe UI"/>
              </a:defRPr>
            </a:pPr>
            <a:r>
              <a:t>Problema: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O código usava INPUT_PULLUP (HIGH) mas o circuito tinha resistores pull-DOWN (10kΩ para GND com botões ligados a 5V). Resultado: botões nunca seriam detectados.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Segoe UI"/>
              </a:defRPr>
            </a:pPr>
            <a:r>
              <a:t>Solução: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Removidos os 5 resistores 10kΩ. Botões agora conectam pino → GND diretamente. O INPUT_PULLUP interno do Arduino é suficiente.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383280" cy="411480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920240"/>
            <a:ext cx="3383280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9385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FUNCIONAL: DFPlayer Desativado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68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  <a:latin typeface="Segoe UI"/>
              </a:defRPr>
            </a:pPr>
            <a:r>
              <a:t>Problema: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43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Todo o código do DFPlayer estava comentado. O dispositivo exibia texto no LCD mas nunca reproduzia áudio — o propósito principal do projeto.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4903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Segoe UI"/>
              </a:defRPr>
            </a:pPr>
            <a:r>
              <a:t>Solução: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023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Código ativado com biblioteca DFRobotDFPlayerMini. Adicionada detecção de erro e feedback visual no LCD caso o DFPlayer não seja encontrado.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920240"/>
            <a:ext cx="3383280" cy="411480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920240"/>
            <a:ext cx="3383280" cy="4572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9385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LATENTE: Tipo de millis()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  <a:latin typeface="Segoe UI"/>
              </a:defRPr>
            </a:pPr>
            <a:r>
              <a:t>Problema: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743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 variável lastButtonPressTime usava tipo long (com sinal). millis() retorna unsigned long. Após ~25 dias, overflow causaria comportamento errático.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74903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Segoe UI"/>
              </a:defRPr>
            </a:pPr>
            <a:r>
              <a:t>Solução: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023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Tipo alterado de long para unsigned long, prevenindo bug após uso prolongado do dispositivo.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Voz Autista — Resumo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651760" cy="228600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651760" cy="73152"/>
          </a:xfrm>
          <a:prstGeom prst="rect">
            <a:avLst/>
          </a:prstGeom>
          <a:solidFill>
            <a:srgbClr val="256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564EB"/>
                </a:solidFill>
                <a:latin typeface="Segoe UI"/>
              </a:defRPr>
            </a:pPr>
            <a:r>
              <a:t>Projeto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Dispositivo funcional de comunicação</a:t>
            </a:r>
            <a:br/>
            <a:r>
              <a:t>assistiva com Arduino, LCD, botões</a:t>
            </a:r>
            <a:br/>
            <a:r>
              <a:t>coloridos e reprodução de áudio MP3.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1645920"/>
            <a:ext cx="2651760" cy="228600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1645920"/>
            <a:ext cx="265176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828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CAF50"/>
                </a:solidFill>
                <a:latin typeface="Segoe UI"/>
              </a:defRPr>
            </a:pPr>
            <a:r>
              <a:t>Case Imprimível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Design paramétrico em OpenSCAD</a:t>
            </a:r>
            <a:br/>
            <a:r>
              <a:t>com visualização 3D interativa.</a:t>
            </a:r>
            <a:br/>
            <a:r>
              <a:t>Pronto para impressão FDM.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645920"/>
            <a:ext cx="2651760" cy="228600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645920"/>
            <a:ext cx="2651760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828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100"/>
                </a:solidFill>
                <a:latin typeface="Segoe UI"/>
              </a:defRPr>
            </a:pPr>
            <a:r>
              <a:t>Simulação Online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Circuito testável no Wokwi sem</a:t>
            </a:r>
            <a:br/>
            <a:r>
              <a:t>necessidade de hardware físico.</a:t>
            </a:r>
            <a:br/>
            <a:r>
              <a:t>Arquivos prontos para importar.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72600" y="1645920"/>
            <a:ext cx="2651760" cy="228600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72600" y="1645920"/>
            <a:ext cx="2651760" cy="7315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828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B1FA2"/>
                </a:solidFill>
                <a:latin typeface="Segoe UI"/>
              </a:defRPr>
            </a:pPr>
            <a:r>
              <a:t>Documentação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27 páginas de documentação técnica</a:t>
            </a:r>
            <a:br/>
            <a:r>
              <a:t>completa: BOM, esquema elétrico,</a:t>
            </a:r>
            <a:br/>
            <a:r>
              <a:t>código, montagem e testes.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06240"/>
            <a:ext cx="10698480" cy="2011680"/>
          </a:xfrm>
          <a:prstGeom prst="rect">
            <a:avLst/>
          </a:prstGeom>
          <a:solidFill>
            <a:srgbClr val="1E3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251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A5F5"/>
                </a:solidFill>
                <a:latin typeface="Segoe UI"/>
              </a:defRPr>
            </a:pPr>
            <a:r>
              <a:t>Arquivos Entregues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4572000"/>
            <a:ext cx="1371600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7091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case_3d/case_voz_autista.scad — Modelo paramétrico do case (OpenSCAD)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case_3d/exportar_base.scad / exportar_tampa.scad — Arquivos para exportação STL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case_3d/visualizar_case_3d.html — Visualização 3D interativa no navegador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wokwi_simulacao/sketch.ino — Código-fonte Arduino para simulação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wokwi_simulacao/diagram.json — Circuito montado para importar no Wokwi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Documento Técnico Completo (PDF, 27 páginas) — Documentação integral do projeto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2A5F5"/>
                </a:solidFill>
                <a:latin typeface="Segoe UI"/>
              </a:defRPr>
            </a:pPr>
            <a: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